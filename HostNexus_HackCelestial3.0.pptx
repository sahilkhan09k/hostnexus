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5"/>
    </p:embeddedFont>
    <p:embeddedFont>
      <p:font typeface="Inter" panose="020B0604020202020204" charset="0"/>
      <p:bold r:id="rId6"/>
      <p:boldItalic r:id="rId7"/>
    </p:embeddedFont>
    <p:embeddedFont>
      <p:font typeface="Inter ExtraBold" panose="020B0604020202020204" charset="0"/>
      <p:bold r:id="rId8"/>
      <p:boldItalic r:id="rId9"/>
    </p:embeddedFont>
    <p:embeddedFont>
      <p:font typeface="Inter Medium" panose="020B0604020202020204" charset="0"/>
      <p:regular r:id="rId10"/>
      <p:bold r:id="rId11"/>
      <p:italic r:id="rId12"/>
      <p:boldItalic r:id="rId13"/>
    </p:embeddedFont>
    <p:embeddedFont>
      <p:font typeface="Inter SemiBold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7277cef1a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7277cef1a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7277cef1a_1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7277cef1a_1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hyperlink" Target="https://web-production-7b67e.up.railway.app" TargetMode="External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hyperlink" Target="https://drive.google.com/drive/u/1/folders/1QbsJRhaLWJzHptmLYK7cnLbQm6PHiAW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4">
            <a:alphaModFix/>
          </a:blip>
          <a:srcRect t="70" b="80"/>
          <a:stretch/>
        </p:blipFill>
        <p:spPr>
          <a:xfrm>
            <a:off x="238125" y="95250"/>
            <a:ext cx="1524000" cy="6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905000" y="213000"/>
            <a:ext cx="5143500" cy="45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Mahatma Education Society’s</a:t>
            </a:r>
            <a:endParaRPr sz="1000" b="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ctr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8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PILLAI UNIVERSITY</a:t>
            </a:r>
            <a:endParaRPr sz="850" b="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6" name="Google Shape;56;p13" title="HackCelestial 2.0.png"/>
          <p:cNvPicPr preferRelativeResize="0"/>
          <p:nvPr/>
        </p:nvPicPr>
        <p:blipFill rotWithShape="1">
          <a:blip r:embed="rId5">
            <a:alphaModFix/>
          </a:blip>
          <a:srcRect l="-96520" t="-351430" r="96520" b="351430"/>
          <a:stretch/>
        </p:blipFill>
        <p:spPr>
          <a:xfrm>
            <a:off x="2890762" y="827675"/>
            <a:ext cx="3362473" cy="2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6">
            <a:alphaModFix/>
          </a:blip>
          <a:srcRect l="932" r="932"/>
          <a:stretch/>
        </p:blipFill>
        <p:spPr>
          <a:xfrm>
            <a:off x="7191375" y="114300"/>
            <a:ext cx="7620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7">
            <a:alphaModFix/>
          </a:blip>
          <a:srcRect t="239" b="239"/>
          <a:stretch/>
        </p:blipFill>
        <p:spPr>
          <a:xfrm>
            <a:off x="8048625" y="95250"/>
            <a:ext cx="7620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>
            <a:off x="238125" y="857250"/>
            <a:ext cx="8667900" cy="43830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428625" y="857250"/>
            <a:ext cx="3810000" cy="438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Team Name: </a:t>
            </a:r>
            <a:r>
              <a:rPr lang="en" sz="1200" b="1" dirty="0">
                <a:solidFill>
                  <a:schemeClr val="tx1"/>
                </a:solidFill>
                <a:latin typeface="Arial Black" panose="020B0A04020102020204" pitchFamily="34" charset="0"/>
                <a:ea typeface="Inter"/>
                <a:cs typeface="Inter"/>
                <a:sym typeface="Inter"/>
              </a:rPr>
              <a:t>Team</a:t>
            </a:r>
            <a:r>
              <a:rPr lang="en" sz="1200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1200" dirty="0">
                <a:solidFill>
                  <a:schemeClr val="tx1"/>
                </a:solidFill>
                <a:latin typeface="Arial Black" panose="020B0A04020102020204" pitchFamily="34" charset="0"/>
                <a:ea typeface="Inter"/>
                <a:cs typeface="Courier New"/>
                <a:sym typeface="Courier New"/>
              </a:rPr>
              <a:t>Axiom</a:t>
            </a:r>
            <a:endParaRPr sz="1200" b="1" dirty="0">
              <a:solidFill>
                <a:schemeClr val="tx1"/>
              </a:solidFill>
              <a:latin typeface="Arial Black" panose="020B0A0402010202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953000" y="857250"/>
            <a:ext cx="3714900" cy="438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9050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PS ID: </a:t>
            </a:r>
            <a:r>
              <a:rPr lang="en-IN" sz="1050" b="1" dirty="0">
                <a:solidFill>
                  <a:schemeClr val="tx1"/>
                </a:solidFill>
                <a:latin typeface="Arial Black" panose="020B0A04020102020204" pitchFamily="34" charset="0"/>
                <a:ea typeface="Inter"/>
                <a:cs typeface="Inter"/>
                <a:sym typeface="Inter"/>
              </a:rPr>
              <a:t>01 — Hospitality Resource Exchange</a:t>
            </a:r>
            <a:endParaRPr sz="1200" b="1" dirty="0">
              <a:solidFill>
                <a:schemeClr val="tx1"/>
              </a:solidFill>
              <a:latin typeface="Arial Black" panose="020B0A0402010202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238125" y="1428750"/>
            <a:ext cx="8667900" cy="157170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238125" y="1428750"/>
            <a:ext cx="57300" cy="1571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476250" y="1428750"/>
            <a:ext cx="8191500" cy="157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155448" rIns="0" bIns="0" anchor="t" anchorCtr="0">
            <a:noAutofit/>
          </a:bodyPr>
          <a:lstStyle/>
          <a:p>
            <a:pPr marL="36576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Your Approach:</a:t>
            </a:r>
            <a:r>
              <a:rPr lang="en-IN" sz="1000" b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IN" sz="1000" b="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Hospitality Resource Exchange — a trusted B2B marketplace for idle assets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IN" sz="90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Problem: </a:t>
            </a:r>
            <a:r>
              <a:rPr lang="en-IN" sz="90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Hotels, caterers, banquet venues &amp; event firms leave halls, kitchens, furniture, AV, vehicles and parking idle while others face last-minute shortages — and discovery still runs on calls, WhatsApp groups and brokers, with no availability visibility, price transparency or trust.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90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Solution: </a:t>
            </a:r>
            <a:r>
              <a:rPr lang="en-IN" sz="90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HostNexus — a KYC-verified exchange where every business is both provider and seeker; payments sit in escrow and every handover is digitally recorded, end to end:</a:t>
            </a:r>
          </a:p>
        </p:txBody>
      </p:sp>
      <p:sp>
        <p:nvSpPr>
          <p:cNvPr id="65" name="Google Shape;65;p13"/>
          <p:cNvSpPr/>
          <p:nvPr/>
        </p:nvSpPr>
        <p:spPr>
          <a:xfrm>
            <a:off x="238125" y="3143250"/>
            <a:ext cx="4210200" cy="18573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238125" y="3143250"/>
            <a:ext cx="57300" cy="18573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476250" y="3143250"/>
            <a:ext cx="3829200" cy="185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173736" rIns="0" bIns="0" anchor="t" anchorCtr="0">
            <a:noAutofit/>
          </a:bodyPr>
          <a:lstStyle/>
          <a:p>
            <a:pPr marL="36576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Software Functionality</a:t>
            </a:r>
          </a:p>
          <a:p>
            <a:pPr marL="128016" lvl="0" indent="-128016" algn="l" rtl="0">
              <a:spcBef>
                <a:spcPts val="320"/>
              </a:spcBef>
              <a:spcAft>
                <a:spcPts val="0"/>
              </a:spcAft>
              <a:buClr>
                <a:srgbClr val="7C3AED"/>
              </a:buClr>
              <a:buSzPct val="100000"/>
              <a:buFont typeface="Arial"/>
              <a:buChar char="•"/>
            </a:pPr>
            <a:r>
              <a:rPr lang="en-IN" sz="8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Verified network: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GST + Aadhaar KYC, admin-approved access</a:t>
            </a:r>
          </a:p>
          <a:p>
            <a:pPr marL="128016" lvl="0" indent="-128016" algn="l" rtl="0">
              <a:spcBef>
                <a:spcPts val="320"/>
              </a:spcBef>
              <a:spcAft>
                <a:spcPts val="0"/>
              </a:spcAft>
              <a:buClr>
                <a:srgbClr val="7C3AED"/>
              </a:buClr>
              <a:buSzPct val="100000"/>
              <a:buFont typeface="Arial"/>
              <a:buChar char="•"/>
            </a:pPr>
            <a:r>
              <a:rPr lang="en-IN" sz="8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Razorpay escrow: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rent released only after renter inspects</a:t>
            </a:r>
          </a:p>
          <a:p>
            <a:pPr marL="128016" lvl="0" indent="-128016" algn="l" rtl="0">
              <a:spcBef>
                <a:spcPts val="320"/>
              </a:spcBef>
              <a:spcAft>
                <a:spcPts val="0"/>
              </a:spcAft>
              <a:buClr>
                <a:srgbClr val="7C3AED"/>
              </a:buClr>
              <a:buSzPct val="100000"/>
              <a:buFont typeface="Arial"/>
              <a:buChar char="•"/>
            </a:pPr>
            <a:r>
              <a:rPr lang="en-IN" sz="8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Chain of custody: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photo check-in/out, 1h/2h auto-settle</a:t>
            </a:r>
          </a:p>
          <a:p>
            <a:pPr marL="128016" lvl="0" indent="-128016" algn="l" rtl="0">
              <a:spcBef>
                <a:spcPts val="320"/>
              </a:spcBef>
              <a:spcAft>
                <a:spcPts val="0"/>
              </a:spcAft>
              <a:buClr>
                <a:srgbClr val="7C3AED"/>
              </a:buClr>
              <a:buSzPct val="100000"/>
              <a:buFont typeface="Arial"/>
              <a:buChar char="•"/>
            </a:pPr>
            <a:r>
              <a:rPr lang="en-IN" sz="8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No double-booking: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availability windows + overlap checks</a:t>
            </a:r>
          </a:p>
          <a:p>
            <a:pPr marL="128016" lvl="0" indent="-128016" algn="l" rtl="0">
              <a:spcBef>
                <a:spcPts val="320"/>
              </a:spcBef>
              <a:spcAft>
                <a:spcPts val="0"/>
              </a:spcAft>
              <a:buClr>
                <a:srgbClr val="7C3AED"/>
              </a:buClr>
              <a:buSzPct val="100000"/>
              <a:buFont typeface="Arial"/>
              <a:buChar char="•"/>
            </a:pPr>
            <a:r>
              <a:rPr lang="en-IN" sz="8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Negotiate :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counter-offers, 1:1 business messages</a:t>
            </a:r>
          </a:p>
          <a:p>
            <a:pPr marL="128016" lvl="0" indent="-128016" algn="l" rtl="0">
              <a:spcBef>
                <a:spcPts val="320"/>
              </a:spcBef>
              <a:spcAft>
                <a:spcPts val="0"/>
              </a:spcAft>
              <a:buClr>
                <a:srgbClr val="7C3AED"/>
              </a:buClr>
              <a:buSzPct val="100000"/>
              <a:buFont typeface="Arial"/>
              <a:buChar char="•"/>
            </a:pPr>
            <a:r>
              <a:rPr lang="en-IN" sz="8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Concierge (RAG):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plain-English search of live listings</a:t>
            </a:r>
          </a:p>
          <a:p>
            <a:pPr marL="128016" lvl="0" indent="-128016" algn="l" rtl="0">
              <a:spcBef>
                <a:spcPts val="320"/>
              </a:spcBef>
              <a:spcAft>
                <a:spcPts val="0"/>
              </a:spcAft>
              <a:buClr>
                <a:srgbClr val="7C3AED"/>
              </a:buClr>
              <a:buSzPct val="100000"/>
              <a:buFont typeface="Arial"/>
              <a:buChar char="•"/>
            </a:pPr>
            <a:r>
              <a:rPr lang="en-IN" sz="8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Trust layer: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damage claims, dispute resolution, role-based reviews</a:t>
            </a:r>
          </a:p>
          <a:p>
            <a:pPr marL="128016" lvl="0" indent="-128016" algn="l" rtl="0">
              <a:spcBef>
                <a:spcPts val="320"/>
              </a:spcBef>
              <a:spcAft>
                <a:spcPts val="0"/>
              </a:spcAft>
              <a:buClr>
                <a:srgbClr val="7C3AED"/>
              </a:buClr>
              <a:buSzPct val="100000"/>
              <a:buFont typeface="Arial"/>
              <a:buChar char="•"/>
            </a:pPr>
            <a:r>
              <a:rPr lang="en-IN" sz="8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One dashboard: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inventory, bookings, messages, analytics</a:t>
            </a:r>
          </a:p>
        </p:txBody>
      </p:sp>
      <p:sp>
        <p:nvSpPr>
          <p:cNvPr id="68" name="Google Shape;68;p13"/>
          <p:cNvSpPr/>
          <p:nvPr/>
        </p:nvSpPr>
        <p:spPr>
          <a:xfrm>
            <a:off x="4695825" y="3143250"/>
            <a:ext cx="4210200" cy="18573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4695825" y="3143250"/>
            <a:ext cx="57300" cy="18573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3"/>
          <p:cNvSpPr txBox="1"/>
          <p:nvPr/>
        </p:nvSpPr>
        <p:spPr>
          <a:xfrm>
            <a:off x="4933950" y="3143250"/>
            <a:ext cx="3829200" cy="185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173736" rIns="0" bIns="0" anchor="t" anchorCtr="0">
            <a:noAutofit/>
          </a:bodyPr>
          <a:lstStyle/>
          <a:p>
            <a:pPr marL="36576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Tech Stack</a:t>
            </a:r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None/>
            </a:pPr>
            <a:r>
              <a:rPr lang="en-IN" sz="850" b="1" dirty="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Frontend 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Next.js 16, React 19, TypeScript, Tailwind 4, Framer Motion, GSAP, Three.js</a:t>
            </a:r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None/>
            </a:pPr>
            <a:r>
              <a:rPr lang="en-IN" sz="850" b="1" dirty="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Backend 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Node.js, Express, TypeScript, Zod, JWT + bcrypt</a:t>
            </a:r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None/>
            </a:pPr>
            <a:r>
              <a:rPr lang="en-IN" sz="850" b="1" dirty="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Database 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PostgreSQL (Neon) with Prisma ORM</a:t>
            </a:r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None/>
            </a:pPr>
            <a:r>
              <a:rPr lang="en-IN" sz="850" b="1" dirty="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Payments 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Razorpay orders + HMAC signature verification</a:t>
            </a:r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None/>
            </a:pPr>
            <a:r>
              <a:rPr lang="en-IN" sz="850" b="1" dirty="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AI / RAG 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Groq LLMs (Llama 3.3, GPT-OSS) → Gemini / OpenAI fallback, vector search + Chroma</a:t>
            </a:r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None/>
            </a:pPr>
            <a:r>
              <a:rPr lang="en-IN" sz="850" b="1" dirty="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DevOps  </a:t>
            </a:r>
            <a:r>
              <a:rPr lang="en-IN" sz="850" b="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Turborepo monorepo, Vitest, Railway deployment</a:t>
            </a:r>
          </a:p>
        </p:txBody>
      </p:sp>
      <p:pic>
        <p:nvPicPr>
          <p:cNvPr id="309" name="Icon approach" descr="Lightbulb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" y="1579626"/>
            <a:ext cx="274320" cy="274320"/>
          </a:xfrm>
          <a:prstGeom prst="rect">
            <a:avLst/>
          </a:prstGeom>
        </p:spPr>
      </p:pic>
      <p:pic>
        <p:nvPicPr>
          <p:cNvPr id="310" name="Icon functionality" descr="Sparkle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" y="3312414"/>
            <a:ext cx="274320" cy="274320"/>
          </a:xfrm>
          <a:prstGeom prst="rect">
            <a:avLst/>
          </a:prstGeom>
        </p:spPr>
      </p:pic>
      <p:pic>
        <p:nvPicPr>
          <p:cNvPr id="311" name="Icon tech stack" descr="Layers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312414"/>
            <a:ext cx="274320" cy="27432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0BF2CA-EF9D-46A8-069C-73922D084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346341"/>
              </p:ext>
            </p:extLst>
          </p:nvPr>
        </p:nvGraphicFramePr>
        <p:xfrm>
          <a:off x="428622" y="2534640"/>
          <a:ext cx="8334528" cy="35814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1816">
                  <a:extLst>
                    <a:ext uri="{9D8B030D-6E8A-4147-A177-3AD203B41FA5}">
                      <a16:colId xmlns:a16="http://schemas.microsoft.com/office/drawing/2014/main" val="2399085114"/>
                    </a:ext>
                  </a:extLst>
                </a:gridCol>
                <a:gridCol w="1041816">
                  <a:extLst>
                    <a:ext uri="{9D8B030D-6E8A-4147-A177-3AD203B41FA5}">
                      <a16:colId xmlns:a16="http://schemas.microsoft.com/office/drawing/2014/main" val="2078988171"/>
                    </a:ext>
                  </a:extLst>
                </a:gridCol>
                <a:gridCol w="1041816">
                  <a:extLst>
                    <a:ext uri="{9D8B030D-6E8A-4147-A177-3AD203B41FA5}">
                      <a16:colId xmlns:a16="http://schemas.microsoft.com/office/drawing/2014/main" val="4174581057"/>
                    </a:ext>
                  </a:extLst>
                </a:gridCol>
                <a:gridCol w="1041816">
                  <a:extLst>
                    <a:ext uri="{9D8B030D-6E8A-4147-A177-3AD203B41FA5}">
                      <a16:colId xmlns:a16="http://schemas.microsoft.com/office/drawing/2014/main" val="2590954249"/>
                    </a:ext>
                  </a:extLst>
                </a:gridCol>
                <a:gridCol w="1041816">
                  <a:extLst>
                    <a:ext uri="{9D8B030D-6E8A-4147-A177-3AD203B41FA5}">
                      <a16:colId xmlns:a16="http://schemas.microsoft.com/office/drawing/2014/main" val="1336505145"/>
                    </a:ext>
                  </a:extLst>
                </a:gridCol>
                <a:gridCol w="1041816">
                  <a:extLst>
                    <a:ext uri="{9D8B030D-6E8A-4147-A177-3AD203B41FA5}">
                      <a16:colId xmlns:a16="http://schemas.microsoft.com/office/drawing/2014/main" val="4290603972"/>
                    </a:ext>
                  </a:extLst>
                </a:gridCol>
                <a:gridCol w="1041816">
                  <a:extLst>
                    <a:ext uri="{9D8B030D-6E8A-4147-A177-3AD203B41FA5}">
                      <a16:colId xmlns:a16="http://schemas.microsoft.com/office/drawing/2014/main" val="343406812"/>
                    </a:ext>
                  </a:extLst>
                </a:gridCol>
                <a:gridCol w="1041816">
                  <a:extLst>
                    <a:ext uri="{9D8B030D-6E8A-4147-A177-3AD203B41FA5}">
                      <a16:colId xmlns:a16="http://schemas.microsoft.com/office/drawing/2014/main" val="2061099596"/>
                    </a:ext>
                  </a:extLst>
                </a:gridCol>
              </a:tblGrid>
              <a:tr h="1512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dirty="0">
                          <a:solidFill>
                            <a:srgbClr val="1D4ED8"/>
                          </a:solidFill>
                          <a:sym typeface="Inter"/>
                        </a:rPr>
                        <a:t>1  Verify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700" b="0" dirty="0">
                          <a:solidFill>
                            <a:srgbClr val="475569"/>
                          </a:solidFill>
                          <a:sym typeface="Inter"/>
                        </a:rPr>
                        <a:t>GST + Aadhaar KYC</a:t>
                      </a:r>
                      <a:endParaRPr lang="en-IN" sz="700" b="0" dirty="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dirty="0">
                          <a:solidFill>
                            <a:srgbClr val="1D4ED8"/>
                          </a:solidFill>
                          <a:sym typeface="Inter"/>
                        </a:rPr>
                        <a:t>2  List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700" b="0" dirty="0">
                          <a:solidFill>
                            <a:srgbClr val="475569"/>
                          </a:solidFill>
                          <a:sym typeface="Inter"/>
                        </a:rPr>
                        <a:t>price &amp; availability</a:t>
                      </a:r>
                      <a:endParaRPr lang="en-IN" sz="700" b="0" dirty="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dirty="0">
                          <a:solidFill>
                            <a:srgbClr val="1D4ED8"/>
                          </a:solidFill>
                          <a:sym typeface="Inter"/>
                        </a:rPr>
                        <a:t>3  Discover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700" b="0" dirty="0">
                          <a:solidFill>
                            <a:srgbClr val="475569"/>
                          </a:solidFill>
                          <a:sym typeface="Inter"/>
                        </a:rPr>
                        <a:t>search + AI chat</a:t>
                      </a:r>
                      <a:endParaRPr lang="en-IN" sz="700" b="0" dirty="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dirty="0">
                          <a:solidFill>
                            <a:srgbClr val="1D4ED8"/>
                          </a:solidFill>
                          <a:sym typeface="Inter"/>
                        </a:rPr>
                        <a:t>4  Request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700" b="0" dirty="0">
                          <a:solidFill>
                            <a:srgbClr val="475569"/>
                          </a:solidFill>
                          <a:sym typeface="Inter"/>
                        </a:rPr>
                        <a:t>conflict-checked</a:t>
                      </a:r>
                      <a:endParaRPr lang="en-IN" sz="700" b="0" dirty="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dirty="0">
                          <a:solidFill>
                            <a:srgbClr val="1D4ED8"/>
                          </a:solidFill>
                          <a:sym typeface="Inter"/>
                        </a:rPr>
                        <a:t>5  Negotiate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700" b="0" dirty="0">
                          <a:solidFill>
                            <a:srgbClr val="475569"/>
                          </a:solidFill>
                          <a:sym typeface="Inter"/>
                        </a:rPr>
                        <a:t>offers + 1:1 chat</a:t>
                      </a:r>
                      <a:endParaRPr lang="en-IN" sz="700" b="0" dirty="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dirty="0">
                          <a:solidFill>
                            <a:srgbClr val="1D4ED8"/>
                          </a:solidFill>
                          <a:sym typeface="Inter"/>
                        </a:rPr>
                        <a:t>6  Escrow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700" b="0" dirty="0" err="1">
                          <a:solidFill>
                            <a:srgbClr val="475569"/>
                          </a:solidFill>
                          <a:sym typeface="Inter"/>
                        </a:rPr>
                        <a:t>Razorpay</a:t>
                      </a:r>
                      <a:r>
                        <a:rPr lang="en-IN" sz="700" b="0" dirty="0">
                          <a:solidFill>
                            <a:srgbClr val="475569"/>
                          </a:solidFill>
                          <a:sym typeface="Inter"/>
                        </a:rPr>
                        <a:t> funds held</a:t>
                      </a:r>
                      <a:endParaRPr lang="en-IN" sz="700" b="0" dirty="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dirty="0">
                          <a:solidFill>
                            <a:srgbClr val="1D4ED8"/>
                          </a:solidFill>
                          <a:sym typeface="Inter"/>
                        </a:rPr>
                        <a:t>7  Handover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700" b="0" dirty="0">
                          <a:solidFill>
                            <a:srgbClr val="475569"/>
                          </a:solidFill>
                          <a:sym typeface="Inter"/>
                        </a:rPr>
                        <a:t>photo inspection</a:t>
                      </a:r>
                      <a:endParaRPr lang="en-IN" sz="700" b="0" dirty="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dirty="0">
                          <a:solidFill>
                            <a:srgbClr val="1D4ED8"/>
                          </a:solidFill>
                          <a:sym typeface="Inter"/>
                        </a:rPr>
                        <a:t>8  Settle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700" b="0" dirty="0">
                          <a:solidFill>
                            <a:srgbClr val="475569"/>
                          </a:solidFill>
                          <a:sym typeface="Inter"/>
                        </a:rPr>
                        <a:t>rent, deposit, review</a:t>
                      </a:r>
                      <a:endParaRPr lang="en-IN" sz="700" b="0" dirty="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9929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6775" y="108749"/>
            <a:ext cx="837025" cy="698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6475" y="72500"/>
            <a:ext cx="837027" cy="7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 title="HackCelestial 2.0.png"/>
          <p:cNvPicPr preferRelativeResize="0"/>
          <p:nvPr/>
        </p:nvPicPr>
        <p:blipFill rotWithShape="1">
          <a:blip r:embed="rId5">
            <a:alphaModFix/>
          </a:blip>
          <a:srcRect l="-96520" t="-351430" r="96520" b="351430"/>
          <a:stretch/>
        </p:blipFill>
        <p:spPr>
          <a:xfrm>
            <a:off x="2890762" y="827675"/>
            <a:ext cx="3362473" cy="2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 title="Pillai logo black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800" y="56826"/>
            <a:ext cx="1755451" cy="8021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" name="Google Shape;79;p14"/>
          <p:cNvGrpSpPr/>
          <p:nvPr/>
        </p:nvGrpSpPr>
        <p:grpSpPr>
          <a:xfrm>
            <a:off x="238125" y="876300"/>
            <a:ext cx="8667900" cy="438300"/>
            <a:chOff x="0" y="0"/>
            <a:chExt cx="8667900" cy="438300"/>
          </a:xfrm>
        </p:grpSpPr>
        <p:sp>
          <p:nvSpPr>
            <p:cNvPr id="80" name="Google Shape;80;p14"/>
            <p:cNvSpPr/>
            <p:nvPr/>
          </p:nvSpPr>
          <p:spPr>
            <a:xfrm>
              <a:off x="0" y="0"/>
              <a:ext cx="8667900" cy="438300"/>
            </a:xfrm>
            <a:prstGeom prst="roundRect">
              <a:avLst>
                <a:gd name="adj" fmla="val 21739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0" y="0"/>
              <a:ext cx="86679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Mandatory</a:t>
              </a:r>
              <a:endParaRPr sz="160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2" name="Google Shape;82;p14"/>
          <p:cNvGrpSpPr/>
          <p:nvPr/>
        </p:nvGrpSpPr>
        <p:grpSpPr>
          <a:xfrm>
            <a:off x="238125" y="1447800"/>
            <a:ext cx="4191000" cy="3390900"/>
            <a:chOff x="0" y="0"/>
            <a:chExt cx="4191000" cy="3390900"/>
          </a:xfrm>
        </p:grpSpPr>
        <p:sp>
          <p:nvSpPr>
            <p:cNvPr id="83" name="Google Shape;83;p14"/>
            <p:cNvSpPr/>
            <p:nvPr/>
          </p:nvSpPr>
          <p:spPr>
            <a:xfrm>
              <a:off x="0" y="0"/>
              <a:ext cx="4191000" cy="339090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0" y="0"/>
              <a:ext cx="4191000" cy="57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228600" y="247650"/>
              <a:ext cx="495300" cy="4953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2" name="Icon video" descr="Play icon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3600" y="332650"/>
              <a:ext cx="325300" cy="325300"/>
            </a:xfrm>
            <a:prstGeom prst="rect">
              <a:avLst/>
            </a:prstGeom>
          </p:spPr>
        </p:pic>
        <p:sp>
          <p:nvSpPr>
            <p:cNvPr id="87" name="Google Shape;87;p14"/>
            <p:cNvSpPr txBox="1"/>
            <p:nvPr/>
          </p:nvSpPr>
          <p:spPr>
            <a:xfrm>
              <a:off x="857250" y="285750"/>
              <a:ext cx="31053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Software Video Link</a:t>
              </a:r>
              <a:endParaRPr sz="18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8" name="Google Shape;88;p14"/>
            <p:cNvSpPr txBox="1"/>
            <p:nvPr/>
          </p:nvSpPr>
          <p:spPr>
            <a:xfrm>
              <a:off x="285750" y="952500"/>
              <a:ext cx="3619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000" b="0" dirty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End-to-end demo: KYC onboarding → listing → AI Concierge search → booking &amp; negotiation → Razorpay escrow → handover / return inspection → settlement &amp; reviews.</a:t>
              </a:r>
            </a:p>
          </p:txBody>
        </p:sp>
        <p:pic>
          <p:nvPicPr>
            <p:cNvPr id="89" name="Google Shape;89;p1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76225" y="1990725"/>
              <a:ext cx="3638700" cy="1066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14"/>
            <p:cNvSpPr txBox="1"/>
            <p:nvPr/>
          </p:nvSpPr>
          <p:spPr>
            <a:xfrm>
              <a:off x="428625" y="2114550"/>
              <a:ext cx="33339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lvl="0"/>
              <a:r>
                <a:rPr lang="en-IN" sz="1000" b="0" dirty="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Submission URL</a:t>
              </a:r>
              <a:r>
                <a:rPr lang="en-IN" sz="1000" dirty="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</a:t>
              </a:r>
              <a:r>
                <a:rPr lang="en-IN" sz="1000" dirty="0">
                  <a:solidFill>
                    <a:srgbClr val="1E293B"/>
                  </a:solidFill>
                  <a:latin typeface="Courier New" panose="02070309020205020404" pitchFamily="49" charset="0"/>
                  <a:ea typeface="Inter SemiBold"/>
                  <a:cs typeface="Courier New" panose="02070309020205020404" pitchFamily="49" charset="0"/>
                  <a:sym typeface="Inter SemiBold"/>
                  <a:hlinkClick r:id="rId9"/>
                </a:rPr>
                <a:t>https://drive.google.com/drive/u/1/folders/1QbsJRhaLWJzHptmLYK7cnLbQm6PHiAWl</a:t>
              </a:r>
              <a:r>
                <a:rPr lang="en-IN" sz="1000" dirty="0">
                  <a:solidFill>
                    <a:srgbClr val="1E293B"/>
                  </a:solidFill>
                  <a:latin typeface="Courier New" panose="02070309020205020404" pitchFamily="49" charset="0"/>
                  <a:ea typeface="Inter SemiBold"/>
                  <a:cs typeface="Courier New" panose="02070309020205020404" pitchFamily="49" charset="0"/>
                  <a:sym typeface="Inter SemiBold"/>
                </a:rPr>
                <a:t> </a:t>
              </a:r>
              <a:endParaRPr lang="en-IN" sz="1000" b="0" dirty="0">
                <a:solidFill>
                  <a:srgbClr val="1E293B"/>
                </a:solidFill>
                <a:latin typeface="Courier New" panose="02070309020205020404" pitchFamily="49" charset="0"/>
                <a:ea typeface="Inter SemiBold"/>
                <a:cs typeface="Courier New" panose="02070309020205020404" pitchFamily="49" charset="0"/>
                <a:sym typeface="Inter SemiBold"/>
              </a:endParaRPr>
            </a:p>
          </p:txBody>
        </p:sp>
      </p:grpSp>
      <p:grpSp>
        <p:nvGrpSpPr>
          <p:cNvPr id="91" name="Google Shape;91;p14"/>
          <p:cNvGrpSpPr/>
          <p:nvPr/>
        </p:nvGrpSpPr>
        <p:grpSpPr>
          <a:xfrm>
            <a:off x="4714875" y="1447800"/>
            <a:ext cx="4191000" cy="3390900"/>
            <a:chOff x="0" y="0"/>
            <a:chExt cx="4191000" cy="3390900"/>
          </a:xfrm>
        </p:grpSpPr>
        <p:sp>
          <p:nvSpPr>
            <p:cNvPr id="92" name="Google Shape;92;p14"/>
            <p:cNvSpPr/>
            <p:nvPr/>
          </p:nvSpPr>
          <p:spPr>
            <a:xfrm>
              <a:off x="0" y="0"/>
              <a:ext cx="4191000" cy="339090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0" y="0"/>
              <a:ext cx="4191000" cy="573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228600" y="247650"/>
              <a:ext cx="495300" cy="495300"/>
            </a:xfrm>
            <a:prstGeom prst="ellipse">
              <a:avLst/>
            </a:prstGeom>
            <a:solidFill>
              <a:srgbClr val="ECFD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3" name="Icon website" descr="Globe icon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13600" y="332650"/>
              <a:ext cx="325300" cy="325300"/>
            </a:xfrm>
            <a:prstGeom prst="rect">
              <a:avLst/>
            </a:prstGeom>
          </p:spPr>
        </p:pic>
        <p:sp>
          <p:nvSpPr>
            <p:cNvPr id="96" name="Google Shape;96;p14"/>
            <p:cNvSpPr txBox="1"/>
            <p:nvPr/>
          </p:nvSpPr>
          <p:spPr>
            <a:xfrm>
              <a:off x="857250" y="285750"/>
              <a:ext cx="31053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Live Website Link</a:t>
              </a:r>
              <a:endParaRPr sz="18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285750" y="952500"/>
              <a:ext cx="3619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000" b="0" dirty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Deployed on Railway: Next.js web app + Express REST API + Neon PostgreSQL. Explore the marketplace, bookings, escrow flow and AI Concierge.</a:t>
              </a:r>
            </a:p>
          </p:txBody>
        </p:sp>
        <p:pic>
          <p:nvPicPr>
            <p:cNvPr id="98" name="Google Shape;98;p1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76225" y="1990725"/>
              <a:ext cx="3638700" cy="1066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14"/>
            <p:cNvSpPr txBox="1"/>
            <p:nvPr/>
          </p:nvSpPr>
          <p:spPr>
            <a:xfrm>
              <a:off x="428625" y="2114550"/>
              <a:ext cx="33339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000" b="0" dirty="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Deployment URL</a:t>
              </a:r>
            </a:p>
            <a:p>
              <a:pPr lvl="0">
                <a:spcBef>
                  <a:spcPts val="450"/>
                </a:spcBef>
              </a:pPr>
              <a:r>
                <a:rPr lang="en-IN" sz="900" dirty="0">
                  <a:solidFill>
                    <a:srgbClr val="047857"/>
                  </a:solidFill>
                  <a:latin typeface="Courier New"/>
                  <a:ea typeface="Courier New"/>
                  <a:cs typeface="Courier New"/>
                  <a:sym typeface="Courier New"/>
                  <a:hlinkClick r:id="rId11"/>
                </a:rPr>
                <a:t>https://web-production-7b67e.up.railway.app/</a:t>
              </a:r>
              <a:endParaRPr lang="en-IN" sz="900" b="0" dirty="0">
                <a:solidFill>
                  <a:srgbClr val="047857"/>
                </a:solidFill>
                <a:highlight>
                  <a:srgbClr val="ECFDF5"/>
                </a:highlight>
                <a:latin typeface="Courier New"/>
                <a:ea typeface="Courier New"/>
                <a:cs typeface="Courier New"/>
                <a:sym typeface="Courier New"/>
                <a:hlinkClick r:id="rId11"/>
              </a:endParaRPr>
            </a:p>
          </p:txBody>
        </p:sp>
      </p:grpSp>
      <p:sp>
        <p:nvSpPr>
          <p:cNvPr id="100" name="Google Shape;100;p14"/>
          <p:cNvSpPr txBox="1"/>
          <p:nvPr/>
        </p:nvSpPr>
        <p:spPr>
          <a:xfrm>
            <a:off x="1905000" y="213000"/>
            <a:ext cx="5143500" cy="45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Mahatma Education Society’s</a:t>
            </a:r>
            <a:endParaRPr sz="1000" b="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ctr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8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PILLAI UNIVERSITY</a:t>
            </a:r>
            <a:endParaRPr sz="850" b="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419</Words>
  <Application>Microsoft Office PowerPoint</Application>
  <PresentationFormat>On-screen Show (16:9)</PresentationFormat>
  <Paragraphs>49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Inter SemiBold</vt:lpstr>
      <vt:lpstr>Inter Medium</vt:lpstr>
      <vt:lpstr>Inter ExtraBold</vt:lpstr>
      <vt:lpstr>Arial</vt:lpstr>
      <vt:lpstr>Arial Black</vt:lpstr>
      <vt:lpstr>Inter</vt:lpstr>
      <vt:lpstr>Courier New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hitesh patil</cp:lastModifiedBy>
  <cp:revision>4</cp:revision>
  <dcterms:modified xsi:type="dcterms:W3CDTF">2026-09-26T09:56:20Z</dcterms:modified>
</cp:coreProperties>
</file>