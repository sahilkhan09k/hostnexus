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5"/>
    </p:embeddedFont>
    <p:embeddedFont>
      <p:font typeface="Inter" panose="020B0604020202020204" charset="0"/>
      <p:bold r:id="rId6"/>
      <p:boldItalic r:id="rId7"/>
    </p:embeddedFont>
    <p:embeddedFont>
      <p:font typeface="Inter ExtraBold" panose="020B0604020202020204" charset="0"/>
      <p:bold r:id="rId8"/>
      <p:boldItalic r:id="rId9"/>
    </p:embeddedFont>
    <p:embeddedFont>
      <p:font typeface="Inter Medium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277cef1a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277cef1a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7277cef1a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7277cef1a_1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hyperlink" Target="https://web-production-7b67e.up.railway.app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hyperlink" Target="https://drive.google.com/drive/u/1/folders/1QbsJRhaLWJzHptmLYK7cnLbQm6PHiAW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t="70" b="80"/>
          <a:stretch/>
        </p:blipFill>
        <p:spPr>
          <a:xfrm>
            <a:off x="238125" y="95250"/>
            <a:ext cx="1524000" cy="6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05000" y="213000"/>
            <a:ext cx="5143500" cy="4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Mahatma Education Society’s</a:t>
            </a:r>
            <a:endParaRPr sz="1000" b="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ctr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PILLAI UNIVERSITY</a:t>
            </a:r>
            <a:endParaRPr sz="85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6" name="Google Shape;56;p13" title="HackCelestial 2.0.png"/>
          <p:cNvPicPr preferRelativeResize="0"/>
          <p:nvPr/>
        </p:nvPicPr>
        <p:blipFill rotWithShape="1">
          <a:blip r:embed="rId5">
            <a:alphaModFix/>
          </a:blip>
          <a:srcRect l="-96520" t="-351430" r="96520" b="351430"/>
          <a:stretch/>
        </p:blipFill>
        <p:spPr>
          <a:xfrm>
            <a:off x="2890762" y="827675"/>
            <a:ext cx="3362473" cy="2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6">
            <a:alphaModFix/>
          </a:blip>
          <a:srcRect l="932" r="932"/>
          <a:stretch/>
        </p:blipFill>
        <p:spPr>
          <a:xfrm>
            <a:off x="7191375" y="114300"/>
            <a:ext cx="762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7">
            <a:alphaModFix/>
          </a:blip>
          <a:srcRect t="239" b="239"/>
          <a:stretch/>
        </p:blipFill>
        <p:spPr>
          <a:xfrm>
            <a:off x="8048625" y="95250"/>
            <a:ext cx="762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238125" y="857250"/>
            <a:ext cx="8667900" cy="438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28625" y="857250"/>
            <a:ext cx="38100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Name: </a:t>
            </a:r>
            <a:r>
              <a:rPr lang="en" sz="1200" b="1" dirty="0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Team</a:t>
            </a:r>
            <a:r>
              <a:rPr lang="en" sz="12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200" dirty="0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Courier New"/>
                <a:sym typeface="Courier New"/>
              </a:rPr>
              <a:t>Axiom</a:t>
            </a:r>
            <a:endParaRPr sz="1200" b="1" dirty="0">
              <a:solidFill>
                <a:schemeClr val="tx1"/>
              </a:solidFill>
              <a:latin typeface="Arial Black" panose="020B0A040201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953000" y="857250"/>
            <a:ext cx="37149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PS ID: </a:t>
            </a:r>
            <a:r>
              <a:rPr lang="en-IN" sz="1050" b="1" dirty="0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01 — Hospitality Resource Exchange</a:t>
            </a:r>
            <a:endParaRPr sz="1200" b="1" dirty="0">
              <a:solidFill>
                <a:schemeClr val="tx1"/>
              </a:solidFill>
              <a:latin typeface="Arial Black" panose="020B0A040201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38125" y="1428750"/>
            <a:ext cx="8667900" cy="15717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238125" y="1428750"/>
            <a:ext cx="57300" cy="1571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476250" y="1428750"/>
            <a:ext cx="8191500" cy="157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155448" rIns="0" bIns="0" anchor="t" anchorCtr="0">
            <a:noAutofit/>
          </a:bodyPr>
          <a:lstStyle/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Your Approach:</a:t>
            </a:r>
            <a:r>
              <a:rPr lang="en-IN" sz="1000" b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IN" sz="1000" b="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Hospitality Resource Exchange — a trusted B2B marketplace for idle assets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Problem: </a:t>
            </a:r>
            <a:r>
              <a:rPr lang="en-IN" sz="90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Hotels, caterers, banquet venues &amp; event firms leave halls, kitchens, furniture, AV, vehicles and parking idle while others face last-minute shortages — and discovery still runs on calls, WhatsApp groups and brokers, with no availability visibility, price transparency or trust.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Solution: </a:t>
            </a:r>
            <a:r>
              <a:rPr lang="en-IN" sz="90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HostNexus — a KYC-verified exchange where every business is both provider and seeker; payments sit in escrow and every handover is digitally recorded, end to end:</a:t>
            </a:r>
          </a:p>
        </p:txBody>
      </p:sp>
      <p:sp>
        <p:nvSpPr>
          <p:cNvPr id="65" name="Google Shape;65;p13"/>
          <p:cNvSpPr/>
          <p:nvPr/>
        </p:nvSpPr>
        <p:spPr>
          <a:xfrm>
            <a:off x="238125" y="3143250"/>
            <a:ext cx="4210200" cy="18573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38125" y="3143250"/>
            <a:ext cx="57300" cy="1857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476250" y="3143250"/>
            <a:ext cx="3829200" cy="18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173736" rIns="0" bIns="0" anchor="t" anchorCtr="0">
            <a:noAutofit/>
          </a:bodyPr>
          <a:lstStyle/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Software Functionality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Verified network: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GST + Aadhaar KYC, admin-approved access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Razorpay escrow: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rent released only after renter inspects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Chain of custody: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photo check-in/out, 1h/2h auto-settle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 double-booking: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availability windows + overlap checks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Negotiate 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counter-offers, 1:1 business messages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Concierge (RAG):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plain-English search of live listings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Trust layer: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damage claims, dispute resolution, role-based reviews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One dashboard: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inventory, bookings, messages, analytics</a:t>
            </a:r>
          </a:p>
        </p:txBody>
      </p:sp>
      <p:sp>
        <p:nvSpPr>
          <p:cNvPr id="68" name="Google Shape;68;p13"/>
          <p:cNvSpPr/>
          <p:nvPr/>
        </p:nvSpPr>
        <p:spPr>
          <a:xfrm>
            <a:off x="4695825" y="3143250"/>
            <a:ext cx="4210200" cy="18573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4695825" y="3143250"/>
            <a:ext cx="57300" cy="1857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4933950" y="3143250"/>
            <a:ext cx="3829200" cy="18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173736" rIns="0" bIns="0" anchor="t" anchorCtr="0">
            <a:noAutofit/>
          </a:bodyPr>
          <a:lstStyle/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Frontend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Next.js 16, React 19, TypeScript, Tailwind 4, Framer Motion, GSAP, Three.js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Backend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Node.js, Express, TypeScript, Zod, JWT + bcrypt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Database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PostgreSQL (Neon) with Prisma ORM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Payments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Razorpay orders + HMAC signature verification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AI / RAG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Groq LLMs (Llama 3.3, GPT-OSS) → Gemini / OpenAI fallback, vector search + Chroma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DevOps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Turborepo monorepo, Vitest, Railway deployment</a:t>
            </a:r>
          </a:p>
        </p:txBody>
      </p:sp>
      <p:pic>
        <p:nvPicPr>
          <p:cNvPr id="309" name="Icon approach" descr="Lightbulb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1579626"/>
            <a:ext cx="274320" cy="274320"/>
          </a:xfrm>
          <a:prstGeom prst="rect">
            <a:avLst/>
          </a:prstGeom>
        </p:spPr>
      </p:pic>
      <p:pic>
        <p:nvPicPr>
          <p:cNvPr id="310" name="Icon functionality" descr="Sparkl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3312414"/>
            <a:ext cx="274320" cy="274320"/>
          </a:xfrm>
          <a:prstGeom prst="rect">
            <a:avLst/>
          </a:prstGeom>
        </p:spPr>
      </p:pic>
      <p:pic>
        <p:nvPicPr>
          <p:cNvPr id="311" name="Icon tech stack" descr="Layer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312414"/>
            <a:ext cx="274320" cy="27432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0BF2CA-EF9D-46A8-069C-73922D084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346341"/>
              </p:ext>
            </p:extLst>
          </p:nvPr>
        </p:nvGraphicFramePr>
        <p:xfrm>
          <a:off x="428622" y="2534640"/>
          <a:ext cx="8334528" cy="3581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1816">
                  <a:extLst>
                    <a:ext uri="{9D8B030D-6E8A-4147-A177-3AD203B41FA5}">
                      <a16:colId xmlns:a16="http://schemas.microsoft.com/office/drawing/2014/main" val="2399085114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2078988171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4174581057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2590954249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1336505145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4290603972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343406812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2061099596"/>
                    </a:ext>
                  </a:extLst>
                </a:gridCol>
              </a:tblGrid>
              <a:tr h="1512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1  Verify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GST + Aadhaar KYC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2  List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price &amp; availability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3  Discover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search + AI chat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4  Request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conflict-checked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5  Negotiate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offers + 1:1 chat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6  Escrow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 err="1">
                          <a:solidFill>
                            <a:srgbClr val="475569"/>
                          </a:solidFill>
                          <a:sym typeface="Inter"/>
                        </a:rPr>
                        <a:t>Razorpay</a:t>
                      </a: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 funds held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7  Handover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photo inspection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8  Settle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rent, deposit, review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9929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775" y="108749"/>
            <a:ext cx="837025" cy="69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475" y="72500"/>
            <a:ext cx="837027" cy="7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HackCelestial 2.0.png"/>
          <p:cNvPicPr preferRelativeResize="0"/>
          <p:nvPr/>
        </p:nvPicPr>
        <p:blipFill rotWithShape="1">
          <a:blip r:embed="rId5">
            <a:alphaModFix/>
          </a:blip>
          <a:srcRect l="-96520" t="-351430" r="96520" b="351430"/>
          <a:stretch/>
        </p:blipFill>
        <p:spPr>
          <a:xfrm>
            <a:off x="2890762" y="827675"/>
            <a:ext cx="3362473" cy="2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title="Pillai logo bl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800" y="56826"/>
            <a:ext cx="1755451" cy="802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4"/>
          <p:cNvGrpSpPr/>
          <p:nvPr/>
        </p:nvGrpSpPr>
        <p:grpSpPr>
          <a:xfrm>
            <a:off x="238125" y="876300"/>
            <a:ext cx="8667900" cy="438300"/>
            <a:chOff x="0" y="0"/>
            <a:chExt cx="8667900" cy="438300"/>
          </a:xfrm>
        </p:grpSpPr>
        <p:sp>
          <p:nvSpPr>
            <p:cNvPr id="80" name="Google Shape;80;p14"/>
            <p:cNvSpPr/>
            <p:nvPr/>
          </p:nvSpPr>
          <p:spPr>
            <a:xfrm>
              <a:off x="0" y="0"/>
              <a:ext cx="8667900" cy="438300"/>
            </a:xfrm>
            <a:prstGeom prst="roundRect">
              <a:avLst>
                <a:gd name="adj" fmla="val 21739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0" y="0"/>
              <a:ext cx="86679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Mandatory</a:t>
              </a:r>
              <a:endParaRPr sz="16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238125" y="1447800"/>
            <a:ext cx="4191000" cy="3390900"/>
            <a:chOff x="0" y="0"/>
            <a:chExt cx="4191000" cy="3390900"/>
          </a:xfrm>
        </p:grpSpPr>
        <p:sp>
          <p:nvSpPr>
            <p:cNvPr id="83" name="Google Shape;83;p14"/>
            <p:cNvSpPr/>
            <p:nvPr/>
          </p:nvSpPr>
          <p:spPr>
            <a:xfrm>
              <a:off x="0" y="0"/>
              <a:ext cx="4191000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0" y="0"/>
              <a:ext cx="41910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28600" y="247650"/>
              <a:ext cx="495300" cy="4953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2" name="Icon video" descr="Play ic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600" y="332650"/>
              <a:ext cx="325300" cy="325300"/>
            </a:xfrm>
            <a:prstGeom prst="rect">
              <a:avLst/>
            </a:prstGeom>
          </p:spPr>
        </p:pic>
        <p:sp>
          <p:nvSpPr>
            <p:cNvPr id="87" name="Google Shape;87;p14"/>
            <p:cNvSpPr txBox="1"/>
            <p:nvPr/>
          </p:nvSpPr>
          <p:spPr>
            <a:xfrm>
              <a:off x="857250" y="285750"/>
              <a:ext cx="3105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Software Video Link</a:t>
              </a:r>
              <a:endParaRPr sz="1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285750" y="952500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0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End-to-end demo: KYC onboarding → listing → AI Concierge search → booking &amp; negotiation → Razorpay escrow → handover / return inspection → settlement &amp; reviews.</a:t>
              </a:r>
            </a:p>
          </p:txBody>
        </p:sp>
        <p:pic>
          <p:nvPicPr>
            <p:cNvPr id="89" name="Google Shape;89;p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6225" y="1990725"/>
              <a:ext cx="36387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4"/>
            <p:cNvSpPr txBox="1"/>
            <p:nvPr/>
          </p:nvSpPr>
          <p:spPr>
            <a:xfrm>
              <a:off x="428625" y="2114550"/>
              <a:ext cx="33339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en-IN" sz="1000" b="0" dirty="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Submission URL</a:t>
              </a:r>
              <a:r>
                <a:rPr lang="en-IN" sz="1000" dirty="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</a:t>
              </a:r>
              <a:r>
                <a:rPr lang="en-IN" sz="1000" dirty="0">
                  <a:solidFill>
                    <a:srgbClr val="1E293B"/>
                  </a:solidFill>
                  <a:latin typeface="Courier New" panose="02070309020205020404" pitchFamily="49" charset="0"/>
                  <a:ea typeface="Inter SemiBold"/>
                  <a:cs typeface="Courier New" panose="02070309020205020404" pitchFamily="49" charset="0"/>
                  <a:sym typeface="Inter SemiBold"/>
                  <a:hlinkClick r:id="rId9"/>
                </a:rPr>
                <a:t>https://drive.google.com/drive/u/1/folders/1QbsJRhaLWJzHptmLYK7cnLbQm6PHiAWl</a:t>
              </a:r>
              <a:r>
                <a:rPr lang="en-IN" sz="1000" dirty="0">
                  <a:solidFill>
                    <a:srgbClr val="1E293B"/>
                  </a:solidFill>
                  <a:latin typeface="Courier New" panose="02070309020205020404" pitchFamily="49" charset="0"/>
                  <a:ea typeface="Inter SemiBold"/>
                  <a:cs typeface="Courier New" panose="02070309020205020404" pitchFamily="49" charset="0"/>
                  <a:sym typeface="Inter SemiBold"/>
                </a:rPr>
                <a:t> </a:t>
              </a:r>
              <a:endParaRPr lang="en-IN" sz="1000" b="0" dirty="0">
                <a:solidFill>
                  <a:srgbClr val="1E293B"/>
                </a:solidFill>
                <a:latin typeface="Courier New" panose="02070309020205020404" pitchFamily="49" charset="0"/>
                <a:ea typeface="Inter SemiBold"/>
                <a:cs typeface="Courier New" panose="02070309020205020404" pitchFamily="49" charset="0"/>
                <a:sym typeface="Inter SemiBold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4714875" y="1447800"/>
            <a:ext cx="4191000" cy="3390900"/>
            <a:chOff x="0" y="0"/>
            <a:chExt cx="4191000" cy="339090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4191000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0" y="0"/>
              <a:ext cx="4191000" cy="573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228600" y="247650"/>
              <a:ext cx="495300" cy="4953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3" name="Icon website" descr="Globe icon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3600" y="332650"/>
              <a:ext cx="325300" cy="325300"/>
            </a:xfrm>
            <a:prstGeom prst="rect">
              <a:avLst/>
            </a:prstGeom>
          </p:spPr>
        </p:pic>
        <p:sp>
          <p:nvSpPr>
            <p:cNvPr id="96" name="Google Shape;96;p14"/>
            <p:cNvSpPr txBox="1"/>
            <p:nvPr/>
          </p:nvSpPr>
          <p:spPr>
            <a:xfrm>
              <a:off x="857250" y="285750"/>
              <a:ext cx="3105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Live Website Link</a:t>
              </a:r>
              <a:endParaRPr sz="1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285750" y="952500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0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Deployed on Railway: Next.js web app + Express REST API + Neon PostgreSQL. Explore the marketplace, bookings, escrow flow and AI Concierge.</a:t>
              </a:r>
            </a:p>
          </p:txBody>
        </p:sp>
        <p:pic>
          <p:nvPicPr>
            <p:cNvPr id="98" name="Google Shape;98;p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6225" y="1990725"/>
              <a:ext cx="36387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/>
            <p:cNvSpPr txBox="1"/>
            <p:nvPr/>
          </p:nvSpPr>
          <p:spPr>
            <a:xfrm>
              <a:off x="428625" y="2114550"/>
              <a:ext cx="33339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0" dirty="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Deployment URL</a:t>
              </a:r>
            </a:p>
            <a:p>
              <a:pPr lvl="0">
                <a:spcBef>
                  <a:spcPts val="450"/>
                </a:spcBef>
              </a:pPr>
              <a:r>
                <a:rPr lang="en-IN" sz="900" dirty="0">
                  <a:solidFill>
                    <a:srgbClr val="047857"/>
                  </a:solidFill>
                  <a:latin typeface="Courier New"/>
                  <a:ea typeface="Courier New"/>
                  <a:cs typeface="Courier New"/>
                  <a:sym typeface="Courier New"/>
                  <a:hlinkClick r:id="rId11"/>
                </a:rPr>
                <a:t>https://web-production-7b67e.up.railway.app/</a:t>
              </a:r>
              <a:endParaRPr lang="en-IN" sz="900" b="0" dirty="0">
                <a:solidFill>
                  <a:srgbClr val="047857"/>
                </a:solidFill>
                <a:highlight>
                  <a:srgbClr val="ECFDF5"/>
                </a:highlight>
                <a:latin typeface="Courier New"/>
                <a:ea typeface="Courier New"/>
                <a:cs typeface="Courier New"/>
                <a:sym typeface="Courier New"/>
                <a:hlinkClick r:id="rId11"/>
              </a:endParaRPr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1905000" y="213000"/>
            <a:ext cx="5143500" cy="4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Mahatma Education Society’s</a:t>
            </a:r>
            <a:endParaRPr sz="1000" b="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ctr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PILLAI UNIVERSITY</a:t>
            </a:r>
            <a:endParaRPr sz="85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419</Words>
  <Application>Microsoft Office PowerPoint</Application>
  <PresentationFormat>On-screen Show (16:9)</PresentationFormat>
  <Paragraphs>49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Inter SemiBold</vt:lpstr>
      <vt:lpstr>Inter Medium</vt:lpstr>
      <vt:lpstr>Inter ExtraBold</vt:lpstr>
      <vt:lpstr>Arial</vt:lpstr>
      <vt:lpstr>Arial Black</vt:lpstr>
      <vt:lpstr>Inter</vt:lpstr>
      <vt:lpstr>Courier New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Hitesh Patil</dc:creator>
  <cp:lastModifiedBy>hitesh patil</cp:lastModifiedBy>
  <cp:revision>4</cp:revision>
  <dcterms:modified xsi:type="dcterms:W3CDTF">2026-09-26T09:58:06Z</dcterms:modified>
</cp:coreProperties>
</file>